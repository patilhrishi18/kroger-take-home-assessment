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ishikesh Patil" userId="b29ea711987b6540" providerId="LiveId" clId="{95420F70-5DEF-4A0D-A04D-791984F4BEB0}"/>
    <pc:docChg chg="custSel modSld">
      <pc:chgData name="Hrishikesh Patil" userId="b29ea711987b6540" providerId="LiveId" clId="{95420F70-5DEF-4A0D-A04D-791984F4BEB0}" dt="2026-01-24T16:27:31.559" v="0" actId="478"/>
      <pc:docMkLst>
        <pc:docMk/>
      </pc:docMkLst>
      <pc:sldChg chg="addSp delSp modSp mod">
        <pc:chgData name="Hrishikesh Patil" userId="b29ea711987b6540" providerId="LiveId" clId="{95420F70-5DEF-4A0D-A04D-791984F4BEB0}" dt="2026-01-24T16:27:31.559" v="0" actId="478"/>
        <pc:sldMkLst>
          <pc:docMk/>
          <pc:sldMk cId="311609840" sldId="262"/>
        </pc:sldMkLst>
        <pc:spChg chg="del">
          <ac:chgData name="Hrishikesh Patil" userId="b29ea711987b6540" providerId="LiveId" clId="{95420F70-5DEF-4A0D-A04D-791984F4BEB0}" dt="2026-01-24T16:27:31.559" v="0" actId="478"/>
          <ac:spMkLst>
            <pc:docMk/>
            <pc:sldMk cId="311609840" sldId="262"/>
            <ac:spMk id="3" creationId="{CA1F1A12-9585-E281-524E-1C79FA400E7A}"/>
          </ac:spMkLst>
        </pc:spChg>
        <pc:spChg chg="add mod">
          <ac:chgData name="Hrishikesh Patil" userId="b29ea711987b6540" providerId="LiveId" clId="{95420F70-5DEF-4A0D-A04D-791984F4BEB0}" dt="2026-01-24T16:27:31.559" v="0" actId="478"/>
          <ac:spMkLst>
            <pc:docMk/>
            <pc:sldMk cId="311609840" sldId="262"/>
            <ac:spMk id="5" creationId="{78662918-BEA0-2DEB-D029-E5597EF1C34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44C00-D984-4325-B7AF-192D43A2727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6B83B2A-0C3E-4677-BDD7-FA98A2DC23B4}">
      <dgm:prSet/>
      <dgm:spPr/>
      <dgm:t>
        <a:bodyPr/>
        <a:lstStyle/>
        <a:p>
          <a:r>
            <a:rPr lang="en-US"/>
            <a:t>My Approach to Kroger’s Produce Table Allocation</a:t>
          </a:r>
          <a:br>
            <a:rPr lang="en-US"/>
          </a:br>
          <a:endParaRPr lang="en-US"/>
        </a:p>
      </dgm:t>
    </dgm:pt>
    <dgm:pt modelId="{7D07D390-BF8B-4C7E-9BF8-3A6A78531A1E}" type="parTrans" cxnId="{68876884-668D-4AE8-BB62-CF199207A45F}">
      <dgm:prSet/>
      <dgm:spPr/>
      <dgm:t>
        <a:bodyPr/>
        <a:lstStyle/>
        <a:p>
          <a:endParaRPr lang="en-US"/>
        </a:p>
      </dgm:t>
    </dgm:pt>
    <dgm:pt modelId="{154B9184-4163-4903-8FAB-C714945DDCF5}" type="sibTrans" cxnId="{68876884-668D-4AE8-BB62-CF199207A45F}">
      <dgm:prSet/>
      <dgm:spPr/>
      <dgm:t>
        <a:bodyPr/>
        <a:lstStyle/>
        <a:p>
          <a:endParaRPr lang="en-US"/>
        </a:p>
      </dgm:t>
    </dgm:pt>
    <dgm:pt modelId="{59D61D84-514A-469F-A95B-B8FA960213BF}">
      <dgm:prSet/>
      <dgm:spPr/>
      <dgm:t>
        <a:bodyPr/>
        <a:lstStyle/>
        <a:p>
          <a:r>
            <a:rPr lang="en-US" dirty="0"/>
            <a:t>“I began </a:t>
          </a:r>
          <a:r>
            <a:rPr lang="en-US"/>
            <a:t>this assessment </a:t>
          </a:r>
          <a:r>
            <a:rPr lang="en-US" dirty="0"/>
            <a:t>to figure out how best to arrange produce across five 14×14-foot tables. My main goal was to boost sales while reducing waste, and I focused on combining item popularity with physical space constraints.”</a:t>
          </a:r>
        </a:p>
      </dgm:t>
    </dgm:pt>
    <dgm:pt modelId="{0493796A-4642-40F4-8C83-179D861E8E1A}" type="parTrans" cxnId="{7A877B21-54DD-4CB5-BD8A-AC25DBF426A1}">
      <dgm:prSet/>
      <dgm:spPr/>
      <dgm:t>
        <a:bodyPr/>
        <a:lstStyle/>
        <a:p>
          <a:endParaRPr lang="en-US"/>
        </a:p>
      </dgm:t>
    </dgm:pt>
    <dgm:pt modelId="{BAB462A3-3930-4A0F-8E1C-621401AA4B86}" type="sibTrans" cxnId="{7A877B21-54DD-4CB5-BD8A-AC25DBF426A1}">
      <dgm:prSet/>
      <dgm:spPr/>
      <dgm:t>
        <a:bodyPr/>
        <a:lstStyle/>
        <a:p>
          <a:endParaRPr lang="en-US"/>
        </a:p>
      </dgm:t>
    </dgm:pt>
    <dgm:pt modelId="{6FC4571D-ABD5-4CEA-9E96-30C2F41B9BCE}" type="pres">
      <dgm:prSet presAssocID="{C6A44C00-D984-4325-B7AF-192D43A27271}" presName="linear" presStyleCnt="0">
        <dgm:presLayoutVars>
          <dgm:animLvl val="lvl"/>
          <dgm:resizeHandles val="exact"/>
        </dgm:presLayoutVars>
      </dgm:prSet>
      <dgm:spPr/>
    </dgm:pt>
    <dgm:pt modelId="{CF07FAEC-C4AB-4213-8E01-891515F06C40}" type="pres">
      <dgm:prSet presAssocID="{96B83B2A-0C3E-4677-BDD7-FA98A2DC23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4F1B2F-359B-4C47-A484-6AAA9BC2CE9B}" type="pres">
      <dgm:prSet presAssocID="{154B9184-4163-4903-8FAB-C714945DDCF5}" presName="spacer" presStyleCnt="0"/>
      <dgm:spPr/>
    </dgm:pt>
    <dgm:pt modelId="{A4D24EAA-135F-4EE9-8341-404231E5DEFC}" type="pres">
      <dgm:prSet presAssocID="{59D61D84-514A-469F-A95B-B8FA960213B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A877B21-54DD-4CB5-BD8A-AC25DBF426A1}" srcId="{C6A44C00-D984-4325-B7AF-192D43A27271}" destId="{59D61D84-514A-469F-A95B-B8FA960213BF}" srcOrd="1" destOrd="0" parTransId="{0493796A-4642-40F4-8C83-179D861E8E1A}" sibTransId="{BAB462A3-3930-4A0F-8E1C-621401AA4B86}"/>
    <dgm:cxn modelId="{64A96862-2CBB-44C4-86DA-EFFD4B7AAE4A}" type="presOf" srcId="{96B83B2A-0C3E-4677-BDD7-FA98A2DC23B4}" destId="{CF07FAEC-C4AB-4213-8E01-891515F06C40}" srcOrd="0" destOrd="0" presId="urn:microsoft.com/office/officeart/2005/8/layout/vList2"/>
    <dgm:cxn modelId="{25E0814F-823C-4B77-ACFA-0C8DF5B19298}" type="presOf" srcId="{C6A44C00-D984-4325-B7AF-192D43A27271}" destId="{6FC4571D-ABD5-4CEA-9E96-30C2F41B9BCE}" srcOrd="0" destOrd="0" presId="urn:microsoft.com/office/officeart/2005/8/layout/vList2"/>
    <dgm:cxn modelId="{68876884-668D-4AE8-BB62-CF199207A45F}" srcId="{C6A44C00-D984-4325-B7AF-192D43A27271}" destId="{96B83B2A-0C3E-4677-BDD7-FA98A2DC23B4}" srcOrd="0" destOrd="0" parTransId="{7D07D390-BF8B-4C7E-9BF8-3A6A78531A1E}" sibTransId="{154B9184-4163-4903-8FAB-C714945DDCF5}"/>
    <dgm:cxn modelId="{9CF83F96-3492-41A7-B7DC-7624AA6341CF}" type="presOf" srcId="{59D61D84-514A-469F-A95B-B8FA960213BF}" destId="{A4D24EAA-135F-4EE9-8341-404231E5DEFC}" srcOrd="0" destOrd="0" presId="urn:microsoft.com/office/officeart/2005/8/layout/vList2"/>
    <dgm:cxn modelId="{0BB7E25D-1334-41F7-BFDF-8D754DD15E6B}" type="presParOf" srcId="{6FC4571D-ABD5-4CEA-9E96-30C2F41B9BCE}" destId="{CF07FAEC-C4AB-4213-8E01-891515F06C40}" srcOrd="0" destOrd="0" presId="urn:microsoft.com/office/officeart/2005/8/layout/vList2"/>
    <dgm:cxn modelId="{4A0C0308-D745-4F06-85BE-8FD9BEB5B9AC}" type="presParOf" srcId="{6FC4571D-ABD5-4CEA-9E96-30C2F41B9BCE}" destId="{BD4F1B2F-359B-4C47-A484-6AAA9BC2CE9B}" srcOrd="1" destOrd="0" presId="urn:microsoft.com/office/officeart/2005/8/layout/vList2"/>
    <dgm:cxn modelId="{CB7A765C-2B5B-41C9-BF90-54B6B094299A}" type="presParOf" srcId="{6FC4571D-ABD5-4CEA-9E96-30C2F41B9BCE}" destId="{A4D24EAA-135F-4EE9-8341-404231E5DEF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67EBFC-DFC5-4110-BFE3-75A7B747C930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A7BAD8-1E77-4435-8850-3A43C99C1A9E}">
      <dgm:prSet/>
      <dgm:spPr/>
      <dgm:t>
        <a:bodyPr/>
        <a:lstStyle/>
        <a:p>
          <a:r>
            <a:rPr lang="en-US" b="0" i="0" baseline="0"/>
            <a:t>“I recommend prioritizing Bananas, Apples, and Citrus on prominent tables because of their high revenue impact. Smaller, lower-selling items can fill remaining space or be placed strategically for variety. </a:t>
          </a:r>
          <a:endParaRPr lang="en-US"/>
        </a:p>
      </dgm:t>
    </dgm:pt>
    <dgm:pt modelId="{EF54A57E-E26A-4BB8-8748-EC2E57DD9D24}" type="parTrans" cxnId="{B1B39B50-8EA3-44D6-8FC2-E9C71572C149}">
      <dgm:prSet/>
      <dgm:spPr/>
      <dgm:t>
        <a:bodyPr/>
        <a:lstStyle/>
        <a:p>
          <a:endParaRPr lang="en-US"/>
        </a:p>
      </dgm:t>
    </dgm:pt>
    <dgm:pt modelId="{6D318F54-EC49-49D0-A56E-0B4B5DCE61E5}" type="sibTrans" cxnId="{B1B39B50-8EA3-44D6-8FC2-E9C71572C149}">
      <dgm:prSet/>
      <dgm:spPr/>
      <dgm:t>
        <a:bodyPr/>
        <a:lstStyle/>
        <a:p>
          <a:endParaRPr lang="en-US"/>
        </a:p>
      </dgm:t>
    </dgm:pt>
    <dgm:pt modelId="{B56BAA78-B5A2-4FC4-8F4E-99D1C8335BEF}">
      <dgm:prSet/>
      <dgm:spPr/>
      <dgm:t>
        <a:bodyPr/>
        <a:lstStyle/>
        <a:p>
          <a:r>
            <a:rPr lang="en-US" b="0" i="0" baseline="0"/>
            <a:t>If we need a more even distribution—say, Bananas on multiple tables—I'd tweak my logic to place a high-demand item on more than one surface. </a:t>
          </a:r>
          <a:endParaRPr lang="en-US"/>
        </a:p>
      </dgm:t>
    </dgm:pt>
    <dgm:pt modelId="{92BFFF00-4BEA-40BE-8D5F-7CBBBE155F64}" type="parTrans" cxnId="{BA400132-658A-433F-9416-1009F2363EB0}">
      <dgm:prSet/>
      <dgm:spPr/>
      <dgm:t>
        <a:bodyPr/>
        <a:lstStyle/>
        <a:p>
          <a:endParaRPr lang="en-US"/>
        </a:p>
      </dgm:t>
    </dgm:pt>
    <dgm:pt modelId="{B0A00C5D-4620-45AC-A42B-15B09EC8E15F}" type="sibTrans" cxnId="{BA400132-658A-433F-9416-1009F2363EB0}">
      <dgm:prSet/>
      <dgm:spPr/>
      <dgm:t>
        <a:bodyPr/>
        <a:lstStyle/>
        <a:p>
          <a:endParaRPr lang="en-US"/>
        </a:p>
      </dgm:t>
    </dgm:pt>
    <dgm:pt modelId="{DD647F06-5881-45E5-9AFA-FE5FDC89A279}">
      <dgm:prSet/>
      <dgm:spPr/>
      <dgm:t>
        <a:bodyPr/>
        <a:lstStyle/>
        <a:p>
          <a:r>
            <a:rPr lang="en-US" b="0" i="0" baseline="0" dirty="0"/>
            <a:t>This data-driven approach should keep the produce area both profitable and appealing to customers as well as reduce the waste or </a:t>
          </a:r>
          <a:r>
            <a:rPr lang="en-US" b="0" i="0" baseline="0" dirty="0" err="1"/>
            <a:t>skrinage</a:t>
          </a:r>
          <a:r>
            <a:rPr lang="en-US" b="0" i="0" baseline="0" dirty="0"/>
            <a:t>.” </a:t>
          </a:r>
          <a:endParaRPr lang="en-US" dirty="0"/>
        </a:p>
      </dgm:t>
    </dgm:pt>
    <dgm:pt modelId="{2723A866-E48C-4B0B-898D-991CCBB9C922}" type="parTrans" cxnId="{85052D9A-9A90-4820-90CC-9A3D10BD5BF6}">
      <dgm:prSet/>
      <dgm:spPr/>
      <dgm:t>
        <a:bodyPr/>
        <a:lstStyle/>
        <a:p>
          <a:endParaRPr lang="en-US"/>
        </a:p>
      </dgm:t>
    </dgm:pt>
    <dgm:pt modelId="{542147AB-415F-48B1-9FEB-5165244949F4}" type="sibTrans" cxnId="{85052D9A-9A90-4820-90CC-9A3D10BD5BF6}">
      <dgm:prSet/>
      <dgm:spPr/>
      <dgm:t>
        <a:bodyPr/>
        <a:lstStyle/>
        <a:p>
          <a:endParaRPr lang="en-US"/>
        </a:p>
      </dgm:t>
    </dgm:pt>
    <dgm:pt modelId="{52B36892-2A30-4A69-A27B-DE4A5363D456}" type="pres">
      <dgm:prSet presAssocID="{5C67EBFC-DFC5-4110-BFE3-75A7B747C930}" presName="Name0" presStyleCnt="0">
        <dgm:presLayoutVars>
          <dgm:dir/>
          <dgm:animLvl val="lvl"/>
          <dgm:resizeHandles val="exact"/>
        </dgm:presLayoutVars>
      </dgm:prSet>
      <dgm:spPr/>
    </dgm:pt>
    <dgm:pt modelId="{86A5FA73-710D-4B7F-B278-995571547298}" type="pres">
      <dgm:prSet presAssocID="{DD647F06-5881-45E5-9AFA-FE5FDC89A279}" presName="boxAndChildren" presStyleCnt="0"/>
      <dgm:spPr/>
    </dgm:pt>
    <dgm:pt modelId="{4443BDD3-4CF2-43B2-A625-0E761AF20769}" type="pres">
      <dgm:prSet presAssocID="{DD647F06-5881-45E5-9AFA-FE5FDC89A279}" presName="parentTextBox" presStyleLbl="node1" presStyleIdx="0" presStyleCnt="3"/>
      <dgm:spPr/>
    </dgm:pt>
    <dgm:pt modelId="{CEE23383-8580-429A-9AFD-2EDCDE3C51ED}" type="pres">
      <dgm:prSet presAssocID="{B0A00C5D-4620-45AC-A42B-15B09EC8E15F}" presName="sp" presStyleCnt="0"/>
      <dgm:spPr/>
    </dgm:pt>
    <dgm:pt modelId="{8F45D12D-6BD6-4D32-84F8-BF30FB0B73DE}" type="pres">
      <dgm:prSet presAssocID="{B56BAA78-B5A2-4FC4-8F4E-99D1C8335BEF}" presName="arrowAndChildren" presStyleCnt="0"/>
      <dgm:spPr/>
    </dgm:pt>
    <dgm:pt modelId="{694CD6A1-3AA9-4A4C-848E-226D353135F7}" type="pres">
      <dgm:prSet presAssocID="{B56BAA78-B5A2-4FC4-8F4E-99D1C8335BEF}" presName="parentTextArrow" presStyleLbl="node1" presStyleIdx="1" presStyleCnt="3"/>
      <dgm:spPr/>
    </dgm:pt>
    <dgm:pt modelId="{EAB86241-3704-4D27-8596-BD0A6234731B}" type="pres">
      <dgm:prSet presAssocID="{6D318F54-EC49-49D0-A56E-0B4B5DCE61E5}" presName="sp" presStyleCnt="0"/>
      <dgm:spPr/>
    </dgm:pt>
    <dgm:pt modelId="{50D775E2-3527-40F2-8FC8-66B67F016371}" type="pres">
      <dgm:prSet presAssocID="{ADA7BAD8-1E77-4435-8850-3A43C99C1A9E}" presName="arrowAndChildren" presStyleCnt="0"/>
      <dgm:spPr/>
    </dgm:pt>
    <dgm:pt modelId="{57492875-CFC4-4751-8843-D348B891ACEC}" type="pres">
      <dgm:prSet presAssocID="{ADA7BAD8-1E77-4435-8850-3A43C99C1A9E}" presName="parentTextArrow" presStyleLbl="node1" presStyleIdx="2" presStyleCnt="3"/>
      <dgm:spPr/>
    </dgm:pt>
  </dgm:ptLst>
  <dgm:cxnLst>
    <dgm:cxn modelId="{BA400132-658A-433F-9416-1009F2363EB0}" srcId="{5C67EBFC-DFC5-4110-BFE3-75A7B747C930}" destId="{B56BAA78-B5A2-4FC4-8F4E-99D1C8335BEF}" srcOrd="1" destOrd="0" parTransId="{92BFFF00-4BEA-40BE-8D5F-7CBBBE155F64}" sibTransId="{B0A00C5D-4620-45AC-A42B-15B09EC8E15F}"/>
    <dgm:cxn modelId="{92627F39-00BA-4067-9D9C-D4313B08E887}" type="presOf" srcId="{DD647F06-5881-45E5-9AFA-FE5FDC89A279}" destId="{4443BDD3-4CF2-43B2-A625-0E761AF20769}" srcOrd="0" destOrd="0" presId="urn:microsoft.com/office/officeart/2005/8/layout/process4"/>
    <dgm:cxn modelId="{38C33C46-BA51-4FE6-ACB8-E623A3503D7E}" type="presOf" srcId="{B56BAA78-B5A2-4FC4-8F4E-99D1C8335BEF}" destId="{694CD6A1-3AA9-4A4C-848E-226D353135F7}" srcOrd="0" destOrd="0" presId="urn:microsoft.com/office/officeart/2005/8/layout/process4"/>
    <dgm:cxn modelId="{B1B39B50-8EA3-44D6-8FC2-E9C71572C149}" srcId="{5C67EBFC-DFC5-4110-BFE3-75A7B747C930}" destId="{ADA7BAD8-1E77-4435-8850-3A43C99C1A9E}" srcOrd="0" destOrd="0" parTransId="{EF54A57E-E26A-4BB8-8748-EC2E57DD9D24}" sibTransId="{6D318F54-EC49-49D0-A56E-0B4B5DCE61E5}"/>
    <dgm:cxn modelId="{23E60C94-3D9F-4DF8-8A7B-9189480F2CFE}" type="presOf" srcId="{5C67EBFC-DFC5-4110-BFE3-75A7B747C930}" destId="{52B36892-2A30-4A69-A27B-DE4A5363D456}" srcOrd="0" destOrd="0" presId="urn:microsoft.com/office/officeart/2005/8/layout/process4"/>
    <dgm:cxn modelId="{85052D9A-9A90-4820-90CC-9A3D10BD5BF6}" srcId="{5C67EBFC-DFC5-4110-BFE3-75A7B747C930}" destId="{DD647F06-5881-45E5-9AFA-FE5FDC89A279}" srcOrd="2" destOrd="0" parTransId="{2723A866-E48C-4B0B-898D-991CCBB9C922}" sibTransId="{542147AB-415F-48B1-9FEB-5165244949F4}"/>
    <dgm:cxn modelId="{940A58F6-CB7A-4624-872A-F7B1E58F92DC}" type="presOf" srcId="{ADA7BAD8-1E77-4435-8850-3A43C99C1A9E}" destId="{57492875-CFC4-4751-8843-D348B891ACEC}" srcOrd="0" destOrd="0" presId="urn:microsoft.com/office/officeart/2005/8/layout/process4"/>
    <dgm:cxn modelId="{6C8E61B5-4D5C-4CAA-9982-559EF1AF6339}" type="presParOf" srcId="{52B36892-2A30-4A69-A27B-DE4A5363D456}" destId="{86A5FA73-710D-4B7F-B278-995571547298}" srcOrd="0" destOrd="0" presId="urn:microsoft.com/office/officeart/2005/8/layout/process4"/>
    <dgm:cxn modelId="{3261735B-B0EB-4487-A828-B98B018867AE}" type="presParOf" srcId="{86A5FA73-710D-4B7F-B278-995571547298}" destId="{4443BDD3-4CF2-43B2-A625-0E761AF20769}" srcOrd="0" destOrd="0" presId="urn:microsoft.com/office/officeart/2005/8/layout/process4"/>
    <dgm:cxn modelId="{73BDF1DE-7FED-41D5-AE1C-DC70D7C36D6E}" type="presParOf" srcId="{52B36892-2A30-4A69-A27B-DE4A5363D456}" destId="{CEE23383-8580-429A-9AFD-2EDCDE3C51ED}" srcOrd="1" destOrd="0" presId="urn:microsoft.com/office/officeart/2005/8/layout/process4"/>
    <dgm:cxn modelId="{9096AAFE-9B7E-44BC-B620-49346D8A72C1}" type="presParOf" srcId="{52B36892-2A30-4A69-A27B-DE4A5363D456}" destId="{8F45D12D-6BD6-4D32-84F8-BF30FB0B73DE}" srcOrd="2" destOrd="0" presId="urn:microsoft.com/office/officeart/2005/8/layout/process4"/>
    <dgm:cxn modelId="{98C985D3-4D00-4B65-8E57-F3CBC9D2512C}" type="presParOf" srcId="{8F45D12D-6BD6-4D32-84F8-BF30FB0B73DE}" destId="{694CD6A1-3AA9-4A4C-848E-226D353135F7}" srcOrd="0" destOrd="0" presId="urn:microsoft.com/office/officeart/2005/8/layout/process4"/>
    <dgm:cxn modelId="{1BD08FC9-87DF-43F7-8CDE-358C3E8E5502}" type="presParOf" srcId="{52B36892-2A30-4A69-A27B-DE4A5363D456}" destId="{EAB86241-3704-4D27-8596-BD0A6234731B}" srcOrd="3" destOrd="0" presId="urn:microsoft.com/office/officeart/2005/8/layout/process4"/>
    <dgm:cxn modelId="{225B3F3C-0BA8-4E12-92A2-642C586BB881}" type="presParOf" srcId="{52B36892-2A30-4A69-A27B-DE4A5363D456}" destId="{50D775E2-3527-40F2-8FC8-66B67F016371}" srcOrd="4" destOrd="0" presId="urn:microsoft.com/office/officeart/2005/8/layout/process4"/>
    <dgm:cxn modelId="{C66CF6B3-83C5-4D16-9FD6-E0A873C556B8}" type="presParOf" srcId="{50D775E2-3527-40F2-8FC8-66B67F016371}" destId="{57492875-CFC4-4751-8843-D348B891AC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7FAEC-C4AB-4213-8E01-891515F06C40}">
      <dsp:nvSpPr>
        <dsp:cNvPr id="0" name=""/>
        <dsp:cNvSpPr/>
      </dsp:nvSpPr>
      <dsp:spPr>
        <a:xfrm>
          <a:off x="0" y="14728"/>
          <a:ext cx="6620255" cy="24333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My Approach to Kroger’s Produce Table Allocation</a:t>
          </a:r>
          <a:br>
            <a:rPr lang="en-US" sz="2400" kern="1200"/>
          </a:br>
          <a:endParaRPr lang="en-US" sz="2400" kern="1200"/>
        </a:p>
      </dsp:txBody>
      <dsp:txXfrm>
        <a:off x="118784" y="133512"/>
        <a:ext cx="6382687" cy="2195739"/>
      </dsp:txXfrm>
    </dsp:sp>
    <dsp:sp modelId="{A4D24EAA-135F-4EE9-8341-404231E5DEFC}">
      <dsp:nvSpPr>
        <dsp:cNvPr id="0" name=""/>
        <dsp:cNvSpPr/>
      </dsp:nvSpPr>
      <dsp:spPr>
        <a:xfrm>
          <a:off x="0" y="2517155"/>
          <a:ext cx="6620255" cy="2433307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“I began </a:t>
          </a:r>
          <a:r>
            <a:rPr lang="en-US" sz="2400" kern="1200"/>
            <a:t>this assessment </a:t>
          </a:r>
          <a:r>
            <a:rPr lang="en-US" sz="2400" kern="1200" dirty="0"/>
            <a:t>to figure out how best to arrange produce across five 14×14-foot tables. My main goal was to boost sales while reducing waste, and I focused on combining item popularity with physical space constraints.”</a:t>
          </a:r>
        </a:p>
      </dsp:txBody>
      <dsp:txXfrm>
        <a:off x="118784" y="2635939"/>
        <a:ext cx="6382687" cy="21957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3BDD3-4CF2-43B2-A625-0E761AF20769}">
      <dsp:nvSpPr>
        <dsp:cNvPr id="0" name=""/>
        <dsp:cNvSpPr/>
      </dsp:nvSpPr>
      <dsp:spPr>
        <a:xfrm>
          <a:off x="0" y="3785421"/>
          <a:ext cx="6141429" cy="12424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This data-driven approach should keep the produce area both profitable and appealing to customers as well as reduce the waste or </a:t>
          </a:r>
          <a:r>
            <a:rPr lang="en-US" sz="1700" b="0" i="0" kern="1200" baseline="0" dirty="0" err="1"/>
            <a:t>skrinage</a:t>
          </a:r>
          <a:r>
            <a:rPr lang="en-US" sz="1700" b="0" i="0" kern="1200" baseline="0" dirty="0"/>
            <a:t>.” </a:t>
          </a:r>
          <a:endParaRPr lang="en-US" sz="1700" kern="1200" dirty="0"/>
        </a:p>
      </dsp:txBody>
      <dsp:txXfrm>
        <a:off x="0" y="3785421"/>
        <a:ext cx="6141429" cy="1242459"/>
      </dsp:txXfrm>
    </dsp:sp>
    <dsp:sp modelId="{694CD6A1-3AA9-4A4C-848E-226D353135F7}">
      <dsp:nvSpPr>
        <dsp:cNvPr id="0" name=""/>
        <dsp:cNvSpPr/>
      </dsp:nvSpPr>
      <dsp:spPr>
        <a:xfrm rot="10800000">
          <a:off x="0" y="1893155"/>
          <a:ext cx="6141429" cy="1910903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If we need a more even distribution—say, Bananas on multiple tables—I'd tweak my logic to place a high-demand item on more than one surface. </a:t>
          </a:r>
          <a:endParaRPr lang="en-US" sz="1700" kern="1200"/>
        </a:p>
      </dsp:txBody>
      <dsp:txXfrm rot="10800000">
        <a:off x="0" y="1893155"/>
        <a:ext cx="6141429" cy="1241647"/>
      </dsp:txXfrm>
    </dsp:sp>
    <dsp:sp modelId="{57492875-CFC4-4751-8843-D348B891ACEC}">
      <dsp:nvSpPr>
        <dsp:cNvPr id="0" name=""/>
        <dsp:cNvSpPr/>
      </dsp:nvSpPr>
      <dsp:spPr>
        <a:xfrm rot="10800000">
          <a:off x="0" y="888"/>
          <a:ext cx="6141429" cy="1910903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“I recommend prioritizing Bananas, Apples, and Citrus on prominent tables because of their high revenue impact. Smaller, lower-selling items can fill remaining space or be placed strategically for variety. </a:t>
          </a:r>
          <a:endParaRPr lang="en-US" sz="1700" kern="1200"/>
        </a:p>
      </dsp:txBody>
      <dsp:txXfrm rot="10800000">
        <a:off x="0" y="888"/>
        <a:ext cx="6141429" cy="1241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2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8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3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3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9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1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0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7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5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6619CB21-78D5-060E-0F6A-9F3796F2A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34" r="-1" b="1075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7B3E2DB-180D-4752-BBB6-987822D6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54D76-0FC6-B01F-378B-790F26546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5052" y="971397"/>
            <a:ext cx="5870184" cy="233377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</a:rPr>
              <a:t>Kroger Take Home Assessment 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B7BB5-CFE8-8E61-8B11-5CE715619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5052" y="4482450"/>
            <a:ext cx="5824468" cy="1724029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Hrishikesh Anil  Patil</a:t>
            </a:r>
          </a:p>
          <a:p>
            <a:r>
              <a:rPr lang="en-US" dirty="0">
                <a:solidFill>
                  <a:srgbClr val="FFFFFF"/>
                </a:solidFill>
              </a:rPr>
              <a:t>Data Analytics Engineer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9321" y="508090"/>
            <a:ext cx="611481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82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83686-6894-71EE-854B-2A642D64328E}"/>
              </a:ext>
            </a:extLst>
          </p:cNvPr>
          <p:cNvSpPr txBox="1"/>
          <p:nvPr/>
        </p:nvSpPr>
        <p:spPr>
          <a:xfrm>
            <a:off x="517870" y="976160"/>
            <a:ext cx="4032504" cy="33649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2B24294-230F-6ADB-8BAA-CFB558D10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91138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954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B4224-76B6-1AC4-FF46-440D98977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" r="-1" b="-1"/>
          <a:stretch/>
        </p:blipFill>
        <p:spPr>
          <a:xfrm>
            <a:off x="517871" y="2921001"/>
            <a:ext cx="11149534" cy="3424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3FA47E-580C-B237-705D-D94C81C4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1"/>
            <a:ext cx="4799921" cy="1687792"/>
          </a:xfrm>
        </p:spPr>
        <p:txBody>
          <a:bodyPr>
            <a:normAutofit/>
          </a:bodyPr>
          <a:lstStyle/>
          <a:p>
            <a:r>
              <a:rPr lang="en-US" sz="4400"/>
              <a:t>Data &amp;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6B237-55A7-1330-7853-E6ED5BCB0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677" y="1061721"/>
            <a:ext cx="5824728" cy="16276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I combined two data files: one detailing sales scores and recent sales percentages, and another covering item sizes and UPC descriptions. Through quick exploratory analysis (EDA), I discovered that </a:t>
            </a:r>
            <a:r>
              <a:rPr lang="en-US" sz="1400" b="1" dirty="0"/>
              <a:t>Bananas, Apples, Citrus, and Onions</a:t>
            </a:r>
            <a:r>
              <a:rPr lang="en-US" sz="1400" dirty="0"/>
              <a:t> are strong revenue drivers, while some items like </a:t>
            </a:r>
            <a:r>
              <a:rPr lang="en-US" sz="1400" b="1" dirty="0"/>
              <a:t>Pears and Herbs/Garlic </a:t>
            </a:r>
            <a:r>
              <a:rPr lang="en-US" sz="1400" dirty="0"/>
              <a:t>have lower sales scores. I also found that certain items have wider footprints (4–8 inches), which impacts table capacity.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0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BA19B-418A-BF11-07A1-6217A529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80" r="1" b="14782"/>
          <a:stretch/>
        </p:blipFill>
        <p:spPr>
          <a:xfrm>
            <a:off x="517871" y="2921001"/>
            <a:ext cx="11149534" cy="3424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4E379-0C99-FA83-A4D3-9CE4FAE2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1"/>
            <a:ext cx="4799921" cy="1687792"/>
          </a:xfrm>
        </p:spPr>
        <p:txBody>
          <a:bodyPr>
            <a:normAutofit/>
          </a:bodyPr>
          <a:lstStyle/>
          <a:p>
            <a:r>
              <a:rPr lang="en-US" sz="4400"/>
              <a:t>My Ranking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C0CC-FF8A-A500-7A6C-A4AFFE73E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677" y="1061721"/>
            <a:ext cx="5824728" cy="16276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Next, I created a simple ‘combined metric’ to rank items by both sales performance (Pct Sales × Sales Score) and size penalty. By slightly penalizing large items, I could ensure that high-sales, moderate-width produce topped the list. Bananas unsurprisingly ranked first with a big lead makes sense given their popularity.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0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AF70A-FCB8-0D83-4DD4-64621010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1"/>
            <a:ext cx="4799921" cy="1687792"/>
          </a:xfrm>
        </p:spPr>
        <p:txBody>
          <a:bodyPr>
            <a:normAutofit/>
          </a:bodyPr>
          <a:lstStyle/>
          <a:p>
            <a:r>
              <a:rPr lang="en-US" sz="4400"/>
              <a:t>Allocation Logic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EE0C-D0A0-A53D-02CC-A2F93524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677" y="1061721"/>
            <a:ext cx="5824728" cy="16276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I then assigned items to tables based on their combined metric, ensuring each table had enough width capacity (168 inches). My approach started with the highest-ranked item and filled tables one by one, leaving some tables fuller than others. This kept me within space limits and gave prime real estate to the top sellers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5521D-A046-55A7-75FD-FCDEE3E98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60" y="2689353"/>
            <a:ext cx="11541760" cy="40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378E7-1050-EFF7-1D25-93E8411E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59"/>
            <a:ext cx="4288536" cy="3361171"/>
          </a:xfrm>
        </p:spPr>
        <p:txBody>
          <a:bodyPr>
            <a:normAutofit/>
          </a:bodyPr>
          <a:lstStyle/>
          <a:p>
            <a:r>
              <a:rPr lang="en-US" sz="3400" dirty="0"/>
              <a:t>Recommendations &amp; Next 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82C17D3-FA64-796E-8C65-BF2C93065E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947815"/>
              </p:ext>
            </p:extLst>
          </p:nvPr>
        </p:nvGraphicFramePr>
        <p:xfrm>
          <a:off x="5532120" y="978408"/>
          <a:ext cx="6141430" cy="5028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116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20531-F319-C383-7BD5-C7C4DAC8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Thank You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Angel Face with Solid Fill">
            <a:extLst>
              <a:ext uri="{FF2B5EF4-FFF2-40B4-BE49-F238E27FC236}">
                <a16:creationId xmlns:a16="http://schemas.microsoft.com/office/drawing/2014/main" id="{E07DACA7-41EC-F184-2FC9-CA365F8E1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662918-BEA0-2DEB-D029-E5597EF1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364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Kroger Take Home Assessment </vt:lpstr>
      <vt:lpstr>PowerPoint Presentation</vt:lpstr>
      <vt:lpstr>Data &amp; Key Insights</vt:lpstr>
      <vt:lpstr>My Ranking Metric</vt:lpstr>
      <vt:lpstr>Allocation Logic &amp; Results</vt:lpstr>
      <vt:lpstr>Recommendations &amp; Next Steps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Patil, Hrishikesh Anil (patilha)</dc:creator>
  <cp:lastModifiedBy>Patil, Hrishikesh Anil (patilha)</cp:lastModifiedBy>
  <cp:revision>1</cp:revision>
  <dcterms:created xsi:type="dcterms:W3CDTF">2025-03-11T23:05:36Z</dcterms:created>
  <dcterms:modified xsi:type="dcterms:W3CDTF">2026-01-24T16:27:33Z</dcterms:modified>
</cp:coreProperties>
</file>